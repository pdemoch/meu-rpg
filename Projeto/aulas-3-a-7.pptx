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Retome onde paramos: o herói já existe (Aula 1-2). Nas próximas 5 aulas ele ganha ações, decisões, um inimigo e a primeira batalha jogável.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destino antes de começar. Marque "onde estamos" a cada aula. Aula 7 é um marco: primeira coisa jogável.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jogo é o pretexto. Reforce: cada conceito destes aparece em qualquer software que eles forem construir.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Metáfora da máquina/receita. Parâmetro = o ingrediente; return = o prato pronto. Sem return, a função não devolve nada (undefined).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central: reutilização (DRY). Uma função de formatação de moeda pode ser usada em 50 telas. É assim no trabalho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 diretamente ao pedido de explicar função x método x classe. Deixe claro: hoje é função; método e classe vêm depois (Aula 10), mas é para lá que caminha.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Circule pela sala. Erros comuns: chamar a função sem os parênteses; esquecer o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erro clássico: = vs ===. Mostre que if (vida = 0) atribui e quebra tudo. Teste do mais grave (morte) para o mais leve.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exemplos à turma: onde eles já viram "regras" em apps que usam? (frete grátis acima de X, etc.)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a ordem dos if/else if. Bônus conecta direto ao exemplo de mercado do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"momento aha": a função mostrarFicha, escrita para o herói, funciona no inimigo de graça porque têm o mesmo formato. Padronizar estrutura economiza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de "efeito colateral": a função não devolve nada, mas modifica o objeto que recebeu. dano mínimo 1 evita cura acidental e loop infinito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eles sentem a repetição de chamar atacar na mão — o que motiva o laço do próximo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Conexão com Aula 6: o dano mínimo de 1 garante que a vida sempre cai, então o laço termina. Regra do jogo + segurança do código juntas.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clímax do bloco: a primeira batalha automática. Celebre — é a primeira coisa jogável do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a lógica: objeto + função + decisão + laço = um sistema que funciona. É a arquitetura de qualquer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o mapa das conquistas e a motivação. O jogo jogável é a prova concreta do aprendizado.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840480" cy="384048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572000"/>
            <a:ext cx="4206240" cy="420624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JAVASCRIPT · PROGRAMAÇÃO NA PRÁTICA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Funções, Decisões e a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Primeira Batalha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3 a 7  —  construindo o RPG  “A Masmorra”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617720"/>
            <a:ext cx="4754880" cy="1417320"/>
          </a:xfrm>
          <a:prstGeom prst="roundRect">
            <a:avLst>
              <a:gd name="adj" fmla="val 5806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483717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483717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0" name="Shape 8"/>
          <p:cNvSpPr/>
          <p:nvPr/>
        </p:nvSpPr>
        <p:spPr>
          <a:xfrm>
            <a:off x="1499616" y="483717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18464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9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hoje vocês vão programar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atacar(heroi, inimigo);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construir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2E2340"/>
          </a:solidFill>
          <a:ln/>
        </p:spPr>
      </p:sp>
      <p:sp>
        <p:nvSpPr>
          <p:cNvPr id="6" name="Shape 4"/>
          <p:cNvSpPr/>
          <p:nvPr/>
        </p:nvSpPr>
        <p:spPr>
          <a:xfrm>
            <a:off x="1307592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7" name="Text 5"/>
          <p:cNvSpPr/>
          <p:nvPr/>
        </p:nvSpPr>
        <p:spPr>
          <a:xfrm>
            <a:off x="1307592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310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reutilizáveis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2D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999232" y="173736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2E2340"/>
          </a:solidFill>
          <a:ln/>
        </p:spPr>
      </p:sp>
      <p:sp>
        <p:nvSpPr>
          <p:cNvPr id="12" name="Shape 10"/>
          <p:cNvSpPr/>
          <p:nvPr/>
        </p:nvSpPr>
        <p:spPr>
          <a:xfrm>
            <a:off x="3666744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13" name="Text 11"/>
          <p:cNvSpPr/>
          <p:nvPr/>
        </p:nvSpPr>
        <p:spPr>
          <a:xfrm>
            <a:off x="3666744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090672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36392" y="3310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escolhe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56632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2D0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358384" y="173736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2E2340"/>
          </a:solidFill>
          <a:ln/>
        </p:spPr>
      </p:sp>
      <p:sp>
        <p:nvSpPr>
          <p:cNvPr id="18" name="Shape 16"/>
          <p:cNvSpPr/>
          <p:nvPr/>
        </p:nvSpPr>
        <p:spPr>
          <a:xfrm>
            <a:off x="6025896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19" name="Text 17"/>
          <p:cNvSpPr/>
          <p:nvPr/>
        </p:nvSpPr>
        <p:spPr>
          <a:xfrm>
            <a:off x="6025896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449824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inimigo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95544" y="3310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 reuso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15784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2D0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717536" y="173736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2E2340"/>
          </a:solidFill>
          <a:ln/>
        </p:spPr>
      </p:sp>
      <p:sp>
        <p:nvSpPr>
          <p:cNvPr id="24" name="Shape 22"/>
          <p:cNvSpPr/>
          <p:nvPr/>
        </p:nvSpPr>
        <p:spPr>
          <a:xfrm>
            <a:off x="8385048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25" name="Text 23"/>
          <p:cNvSpPr/>
          <p:nvPr/>
        </p:nvSpPr>
        <p:spPr>
          <a:xfrm>
            <a:off x="8385048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808976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golpe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54696" y="3310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que mudam dados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74936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2D0"/>
                </a:solidFill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0076688" y="1737360"/>
            <a:ext cx="2103120" cy="2194560"/>
          </a:xfrm>
          <a:prstGeom prst="roundRect">
            <a:avLst>
              <a:gd name="adj" fmla="val 3913"/>
            </a:avLst>
          </a:prstGeom>
          <a:solidFill>
            <a:srgbClr val="2E234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44200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31" name="Text 29"/>
          <p:cNvSpPr/>
          <p:nvPr/>
        </p:nvSpPr>
        <p:spPr>
          <a:xfrm>
            <a:off x="10744200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0168128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batalha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213848" y="3310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laços (while)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448056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4805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Começamos com um herói parado. Terminamos a Aula 7 com a primeira batalha jogável — rodando de verdade.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pilares em TODO sistema real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1572768"/>
          </a:xfrm>
          <a:prstGeom prst="roundRect">
            <a:avLst>
              <a:gd name="adj" fmla="val 5233"/>
            </a:avLst>
          </a:prstGeom>
          <a:solidFill>
            <a:srgbClr val="2E2340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965960"/>
            <a:ext cx="384048" cy="384048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8928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reutilizáveis de lógica.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7523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checkout, login, relatórios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0488" y="1691640"/>
            <a:ext cx="5349240" cy="1572768"/>
          </a:xfrm>
          <a:prstGeom prst="roundRect">
            <a:avLst>
              <a:gd name="adj" fmla="val 5233"/>
            </a:avLst>
          </a:prstGeom>
          <a:solidFill>
            <a:srgbClr val="2E234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1965960"/>
            <a:ext cx="384048" cy="384048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13448" y="18928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(if/else)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013448" y="23774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de negócio do sistema.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13448" y="27523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permissões, descontos, validações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465576"/>
            <a:ext cx="5349240" cy="1572768"/>
          </a:xfrm>
          <a:prstGeom prst="roundRect">
            <a:avLst>
              <a:gd name="adj" fmla="val 5233"/>
            </a:avLst>
          </a:prstGeom>
          <a:solidFill>
            <a:srgbClr val="2E2340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3739896"/>
            <a:ext cx="384048" cy="384048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36667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463040" y="415137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 dados do mundo real.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526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usuário, produto, pedido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90488" y="3465576"/>
            <a:ext cx="5349240" cy="1572768"/>
          </a:xfrm>
          <a:prstGeom prst="roundRect">
            <a:avLst>
              <a:gd name="adj" fmla="val 5233"/>
            </a:avLst>
          </a:prstGeom>
          <a:solidFill>
            <a:srgbClr val="2E234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3739896"/>
            <a:ext cx="384048" cy="384048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13448" y="36667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013448" y="415137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 listas e repetições.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13448" y="4526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pedidos, e-mails, cobranças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no jogo = saber usar no trabalho.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Função: uma máquina de tarefas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dados de entrada (parâmetros)</a:t>
            </a:r>
            <a:endParaRPr lang="en-US" sz="17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um trabalho</a:t>
            </a:r>
            <a:endParaRPr lang="en-US" sz="17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um resultado com return</a:t>
            </a:r>
            <a:endParaRPr lang="en-US" sz="17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chama quantas vezes quiser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1463040" cy="731520"/>
          </a:xfrm>
          <a:prstGeom prst="roundRect">
            <a:avLst>
              <a:gd name="adj" fmla="val 11250"/>
            </a:avLst>
          </a:prstGeom>
          <a:solidFill>
            <a:srgbClr val="2E234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114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41148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2D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23160" y="4114800"/>
            <a:ext cx="1463040" cy="731520"/>
          </a:xfrm>
          <a:prstGeom prst="roundRect">
            <a:avLst>
              <a:gd name="adj" fmla="val 11250"/>
            </a:avLst>
          </a:prstGeom>
          <a:solidFill>
            <a:srgbClr val="6D4AA0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4114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41148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2D0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206240" y="4114800"/>
            <a:ext cx="1463040" cy="731520"/>
          </a:xfrm>
          <a:prstGeom prst="roundRect">
            <a:avLst>
              <a:gd name="adj" fmla="val 11250"/>
            </a:avLst>
          </a:prstGeom>
          <a:solidFill>
            <a:srgbClr val="2E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4114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68426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029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30428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calcularPoder(p) {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p.ataque * 2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p.nivel * 5;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calcularPoder(heroi);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A9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devolve 45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no mercado de trabalho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ideias, em qualquer sistema: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6829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402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validarCPF(cpf)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se o CPF é válido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6265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346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calcularFrete(cep, peso)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o valor do frete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290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formatarMoeda(valor)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"R$ 19,90"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5137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233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enviarEmail(dest, msg)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um e-mail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539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82142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9" name="Shape 17"/>
          <p:cNvSpPr/>
          <p:nvPr/>
        </p:nvSpPr>
        <p:spPr>
          <a:xfrm>
            <a:off x="707745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304288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formatarMoeda(v) {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"R$ " + v.toFixed(2);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206240"/>
            <a:ext cx="5212080" cy="1143000"/>
          </a:xfrm>
          <a:prstGeom prst="roundRect">
            <a:avLst>
              <a:gd name="adj" fmla="val 7200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20624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DRY: escreva uma vez, use em todo lugar. Menos código repetido = menos bugs.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ISSO VAI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→ Método → Classe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2E234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"solta"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971800"/>
            <a:ext cx="3063240" cy="1280160"/>
          </a:xfrm>
          <a:prstGeom prst="roundRect">
            <a:avLst>
              <a:gd name="adj" fmla="val 6429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718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atacar(heroi, goblin);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6552" y="173736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2E2340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45152" y="23957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DO objeto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2971800"/>
            <a:ext cx="3063240" cy="1280160"/>
          </a:xfrm>
          <a:prstGeom prst="roundRect">
            <a:avLst>
              <a:gd name="adj" fmla="val 6429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29718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heroi.atacar(goblin);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93024" y="173736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2E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21624" y="23957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de objetos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21624" y="2971800"/>
            <a:ext cx="3063240" cy="1280160"/>
          </a:xfrm>
          <a:prstGeom prst="roundRect">
            <a:avLst>
              <a:gd name="adj" fmla="val 6429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58784" y="29718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Usuario { 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7091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mercado, sistemas são objetos com métodos, criados por classes. No curso chegamos lá na Aula 10 — hoje a base são as funções.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PRATICAR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1 · Funções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98480" cy="2286000"/>
          </a:xfrm>
          <a:prstGeom prst="roundRect">
            <a:avLst>
              <a:gd name="adj" fmla="val 3600"/>
            </a:avLst>
          </a:prstGeom>
          <a:solidFill>
            <a:srgbClr val="2E2340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346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função curar(personagem, quantidade) que aumenta a vida e imprime a vida nova.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Depois, crie DOIS heróis diferentes com criarHeroi() e mostre a ficha dos dois.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6D4A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min · em duplas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Decisões: o código escolhe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</a:t>
            </a:r>
            <a:endParaRPr lang="en-US" sz="17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Comparações: ===  !==  &gt;  &lt;  &gt;=  &lt;=</a:t>
            </a:r>
            <a:endParaRPr lang="en-US" sz="17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=== (três iguais) para comparar</a:t>
            </a:r>
            <a:endParaRPr lang="en-US" sz="17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(um) atribui · === compara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3434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comparação sempre devolve true ou false.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68426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029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30428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(heroi.vida &lt;= 0) {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console.log("derrotado");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(heroi.vida &lt; 30) {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console.log("crítico");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console.log("bem");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no mercado de trabalho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E234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745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(senha === correta) → entra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0488" y="17373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E2340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8745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Permissão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19088" y="22860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(usuario.admin) → mostra painel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72968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E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101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37216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(total &gt; 200) → aplica 10%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0488" y="3172968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E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3101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37216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(email vazio) → avisa erro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26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regra de negócio é um if. Descontos, acessos, cobranças — tudo decisão.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PRATICAR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2 · Decisões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98480" cy="2286000"/>
          </a:xfrm>
          <a:prstGeom prst="roundRect">
            <a:avLst>
              <a:gd name="adj" fmla="val 3600"/>
            </a:avLst>
          </a:prstGeom>
          <a:solidFill>
            <a:srgbClr val="2E2340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346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classificarForca(personagem): calcule o poder e imprima "fraco" (&lt; 40), "mediano" (&lt; 70) ou "forte".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Bônus: uma função de desconto por faixa de valor da compra.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6D4A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min · em duplas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Objetos: modelar o mundo real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agrupa os dados de UMA coisa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Herói e inimigo com o MESMO formato...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...fazem a mesma função servir nos dois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Reuso: escreveu uma vez, serve para todos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38912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3891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devolvem objetos (JSON) o tempo todo: usuário, produto, pedido.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68426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029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30428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goblin = {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nome: "Goblin",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vida: 40,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ataque: 10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mostrarFicha(goblin); // reuso!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+ 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que mudam as coisas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0" name="Shape 8"/>
          <p:cNvSpPr/>
          <p:nvPr/>
        </p:nvSpPr>
        <p:spPr>
          <a:xfrm>
            <a:off x="140817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04288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atacar(quem, alvo) {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dano = quem.ataque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- alvo.defesa;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(dano &lt; 1) dano = 1;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alvo.vida -= dano;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&lt;- muda o alvo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09360" y="1737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mercado, é o coração do sistema: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45973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3317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sacar(conta, valor)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o saldo da conta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05409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926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addAoCarrinho(cart, item)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o carrinho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64845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5204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darBaixaEstoque(prod, qtd)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o estoque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43434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343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funções existem só para ALTERAR um objeto.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PRATICAR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3 · O golpe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98480" cy="2286000"/>
          </a:xfrm>
          <a:prstGeom prst="roundRect">
            <a:avLst>
              <a:gd name="adj" fmla="val 3600"/>
            </a:avLst>
          </a:prstGeom>
          <a:solidFill>
            <a:srgbClr val="2E2340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346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inimigo orc com criarInimigo(). Faça heroi e orc trocarem 2 golpes cada com atacar().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fim, mostre a vida dos dois.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6D4A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min · em duplas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+ 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Laços: repetir sem repetir código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repete ENQUANTO a condição for verdadeira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Perfeito para "lutar até alguém cair"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8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sem parada = loop infinito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mercado: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 pedidos · enviar N e-mails · tentar até dar certo · paginação de dados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68426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029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30428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(heroi.estaVivo()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inimigo.estaVivo()) {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atacar(heroi, inimigo);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atacar(inimigo, heroi);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PRATICAR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4 · A batalha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98480" cy="2286000"/>
          </a:xfrm>
          <a:prstGeom prst="roundRect">
            <a:avLst>
              <a:gd name="adj" fmla="val 3600"/>
            </a:avLst>
          </a:prstGeom>
          <a:solidFill>
            <a:srgbClr val="2E2340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346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Junte tudo: use while para heroi e um inimigo trocarem golpes até um cair.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fim, imprima quem venceu e em quantos turnos.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6D4A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 min · em duplas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AS PEÇAS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peças se encaixam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2E23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herói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87752" y="2286000"/>
            <a:ext cx="292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2D0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62072" y="22860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2E2340"/>
          </a:solidFill>
          <a:ln/>
        </p:spPr>
      </p:sp>
      <p:sp>
        <p:nvSpPr>
          <p:cNvPr id="10" name="Text 8"/>
          <p:cNvSpPr/>
          <p:nvPr/>
        </p:nvSpPr>
        <p:spPr>
          <a:xfrm>
            <a:off x="2953512" y="2468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53512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9744" y="2286000"/>
            <a:ext cx="292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2D0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84064" y="22860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2E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5175504" y="2468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75504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vivo?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31736" y="2286000"/>
            <a:ext cx="292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2D0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06056" y="22860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2E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7397496" y="2468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97496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turnos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53728" y="2286000"/>
            <a:ext cx="292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2D0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528048" y="22860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6D4AA0"/>
          </a:solidFill>
          <a:ln/>
        </p:spPr>
      </p:sp>
      <p:sp>
        <p:nvSpPr>
          <p:cNvPr id="22" name="Text 20"/>
          <p:cNvSpPr/>
          <p:nvPr/>
        </p:nvSpPr>
        <p:spPr>
          <a:xfrm>
            <a:off x="9619488" y="2468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Batalha!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19488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jogável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434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4 peças montam um jogo... ou um e-commerce, ou um app de banco.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DA AULA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Vocês vão saber...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 reutilizar funções (parâmetros e return)</a:t>
            </a:r>
            <a:endParaRPr lang="en-US" sz="17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decisões com if / else e comparações</a:t>
            </a:r>
            <a:endParaRPr lang="en-US" sz="17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dados com objetos e reaproveitar código</a:t>
            </a:r>
            <a:endParaRPr lang="en-US" sz="17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funções que alteram o estado do sistema</a:t>
            </a:r>
            <a:endParaRPr lang="en-US" sz="17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laços para repetir tarefas com segurança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589520" y="1828800"/>
            <a:ext cx="3931920" cy="3291840"/>
          </a:xfrm>
          <a:prstGeom prst="roundRect">
            <a:avLst>
              <a:gd name="adj" fmla="val 2500"/>
            </a:avLst>
          </a:prstGeom>
          <a:solidFill>
            <a:srgbClr val="6D4AA0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21031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Isso é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programar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verdade.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818120" y="38862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vocês terão um jogo jogável para provar.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2026-07-18T11:40:21Z</dcterms:created>
  <dcterms:modified xsi:type="dcterms:W3CDTF">2026-07-18T11:40:21Z</dcterms:modified>
</cp:coreProperties>
</file>