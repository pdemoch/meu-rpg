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1121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Retome onde paramos: o herói já existe (Aula 1-2). Nas próximas 5 aulas ele ganha ações, decisões, um inimigo e a primeira batalha jogável.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destino antes de começar. Marque "onde estamos" a cada aula. Aula 7 é um marco: primeira coisa jogável.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jogo é o pretexto. Reforce: cada conceito destes aparece em qualquer software que eles forem construir.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Metáfora da máquina/receita. Parâmetro = o ingrediente; return = o prato pronto. Sem return, a função não devolve nada (undefined).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central: reutilização (DRY). Uma função de formatação de moeda pode ser usada em 50 telas. É assim no trabalho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 diretamente ao pedido de explicar função x método x classe. Deixe claro: hoje é função; método e classe vêm depois (Aula 10), mas é para lá que caminha.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Circule pela sala. Erros comuns: chamar a função sem os parênteses; esquecer o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erro clássico: = vs ===. Mostre que if (vida = 0) atribui e quebra tudo. Teste do mais grave (morte) para o mais leve.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exemplos à turma: onde eles já viram "regras" em apps que usam? (frete grátis acima de X, etc.)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Reforce a ordem dos if/else if. Bônus conecta direto ao exemplo de mercado do slide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"momento aha": a função mostrarFicha, escrita para o herói, funciona no inimigo de graça porque têm o mesmo formato. Padronizar estrutura economiza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Conceito de "efeito colateral": a função não devolve nada, mas modifica o objeto que recebeu. dano mínimo 1 evita cura acidental e loop infinito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eles sentem a repetição de chamar atacar na mão — o que motiva o laço do próximo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Conexão com Aula 6: o dano mínimo de 1 garante que a vida sempre cai, então o laço termina. Regra do jogo + segurança do código juntas.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clímax do bloco: a primeira batalha automática. Celebre — é a primeira coisa jogável do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a lógica: objeto + função + decisão + laço = um sistema que funciona. É a arquitetura de qualquer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Encerre com o mapa das conquistas e a motivação. O jogo jogável é a prova concreta do aprendizado.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3840480" cy="3840480"/>
          </a:xfrm>
          <a:prstGeom prst="ellipse">
            <a:avLst/>
          </a:prstGeom>
          <a:solidFill>
            <a:srgbClr val="271C33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4572000"/>
            <a:ext cx="4206240" cy="4206240"/>
          </a:xfrm>
          <a:prstGeom prst="ellipse">
            <a:avLst/>
          </a:prstGeom>
          <a:solidFill>
            <a:srgbClr val="271C3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JAVASCRIPT · PROGRAMAÇÃO NA PRÁTICA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Funções, Decisões e a</a:t>
            </a:r>
            <a:endParaRPr lang="en-US" sz="5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Primeira Batalha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Aulas 3 a 7  —  construindo o RPG  “A Masmorra”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4617720"/>
            <a:ext cx="4754880" cy="1417320"/>
          </a:xfrm>
          <a:prstGeom prst="roundRect">
            <a:avLst>
              <a:gd name="adj" fmla="val 5806"/>
            </a:avLst>
          </a:prstGeom>
          <a:solidFill>
            <a:srgbClr val="141019"/>
          </a:solidFill>
          <a:ln w="12700">
            <a:solidFill>
              <a:srgbClr val="3E3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7552" y="4837176"/>
            <a:ext cx="128016" cy="128016"/>
          </a:xfrm>
          <a:prstGeom prst="ellipse">
            <a:avLst/>
          </a:prstGeom>
          <a:solidFill>
            <a:srgbClr val="E86A5E"/>
          </a:solidFill>
          <a:ln/>
        </p:spPr>
      </p:sp>
      <p:sp>
        <p:nvSpPr>
          <p:cNvPr id="9" name="Shape 7"/>
          <p:cNvSpPr/>
          <p:nvPr/>
        </p:nvSpPr>
        <p:spPr>
          <a:xfrm>
            <a:off x="1243584" y="4837176"/>
            <a:ext cx="128016" cy="128016"/>
          </a:xfrm>
          <a:prstGeom prst="ellipse">
            <a:avLst/>
          </a:prstGeom>
          <a:solidFill>
            <a:srgbClr val="E7BC57"/>
          </a:solidFill>
          <a:ln/>
        </p:spPr>
      </p:sp>
      <p:sp>
        <p:nvSpPr>
          <p:cNvPr id="10" name="Shape 8"/>
          <p:cNvSpPr/>
          <p:nvPr/>
        </p:nvSpPr>
        <p:spPr>
          <a:xfrm>
            <a:off x="1499616" y="4837176"/>
            <a:ext cx="128016" cy="12801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5184648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A9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hoje vocês vão programar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atacar(heroi, inimigo);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construir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103120" cy="2194560"/>
          </a:xfrm>
          <a:prstGeom prst="roundRect">
            <a:avLst>
              <a:gd name="adj" fmla="val 3913"/>
            </a:avLst>
          </a:prstGeom>
          <a:solidFill>
            <a:srgbClr val="2E2340"/>
          </a:solidFill>
          <a:ln/>
        </p:spPr>
      </p:sp>
      <p:sp>
        <p:nvSpPr>
          <p:cNvPr id="6" name="Shape 4"/>
          <p:cNvSpPr/>
          <p:nvPr/>
        </p:nvSpPr>
        <p:spPr>
          <a:xfrm>
            <a:off x="1307592" y="1965960"/>
            <a:ext cx="768096" cy="768096"/>
          </a:xfrm>
          <a:prstGeom prst="ellipse">
            <a:avLst/>
          </a:prstGeom>
          <a:solidFill>
            <a:srgbClr val="6D4AA0"/>
          </a:solidFill>
          <a:ln/>
        </p:spPr>
      </p:sp>
      <p:sp>
        <p:nvSpPr>
          <p:cNvPr id="7" name="Text 5"/>
          <p:cNvSpPr/>
          <p:nvPr/>
        </p:nvSpPr>
        <p:spPr>
          <a:xfrm>
            <a:off x="1307592" y="196596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Funções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3101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reutilizáveis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97480" y="2148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72D0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999232" y="1737360"/>
            <a:ext cx="2103120" cy="2194560"/>
          </a:xfrm>
          <a:prstGeom prst="roundRect">
            <a:avLst>
              <a:gd name="adj" fmla="val 3913"/>
            </a:avLst>
          </a:prstGeom>
          <a:solidFill>
            <a:srgbClr val="2E2340"/>
          </a:solidFill>
          <a:ln/>
        </p:spPr>
      </p:sp>
      <p:sp>
        <p:nvSpPr>
          <p:cNvPr id="12" name="Shape 10"/>
          <p:cNvSpPr/>
          <p:nvPr/>
        </p:nvSpPr>
        <p:spPr>
          <a:xfrm>
            <a:off x="3666744" y="1965960"/>
            <a:ext cx="768096" cy="768096"/>
          </a:xfrm>
          <a:prstGeom prst="ellipse">
            <a:avLst/>
          </a:prstGeom>
          <a:solidFill>
            <a:srgbClr val="6D4AA0"/>
          </a:solidFill>
          <a:ln/>
        </p:spPr>
      </p:sp>
      <p:sp>
        <p:nvSpPr>
          <p:cNvPr id="13" name="Text 11"/>
          <p:cNvSpPr/>
          <p:nvPr/>
        </p:nvSpPr>
        <p:spPr>
          <a:xfrm>
            <a:off x="3666744" y="196596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090672" y="2880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36392" y="33101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escolhe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56632" y="2148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72D0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358384" y="1737360"/>
            <a:ext cx="2103120" cy="2194560"/>
          </a:xfrm>
          <a:prstGeom prst="roundRect">
            <a:avLst>
              <a:gd name="adj" fmla="val 3913"/>
            </a:avLst>
          </a:prstGeom>
          <a:solidFill>
            <a:srgbClr val="2E2340"/>
          </a:solidFill>
          <a:ln/>
        </p:spPr>
      </p:sp>
      <p:sp>
        <p:nvSpPr>
          <p:cNvPr id="18" name="Shape 16"/>
          <p:cNvSpPr/>
          <p:nvPr/>
        </p:nvSpPr>
        <p:spPr>
          <a:xfrm>
            <a:off x="6025896" y="1965960"/>
            <a:ext cx="768096" cy="768096"/>
          </a:xfrm>
          <a:prstGeom prst="ellipse">
            <a:avLst/>
          </a:prstGeom>
          <a:solidFill>
            <a:srgbClr val="6D4AA0"/>
          </a:solidFill>
          <a:ln/>
        </p:spPr>
      </p:sp>
      <p:sp>
        <p:nvSpPr>
          <p:cNvPr id="19" name="Text 17"/>
          <p:cNvSpPr/>
          <p:nvPr/>
        </p:nvSpPr>
        <p:spPr>
          <a:xfrm>
            <a:off x="6025896" y="196596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449824" y="2880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inimigo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95544" y="33101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e reuso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15784" y="2148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72D0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717536" y="1737360"/>
            <a:ext cx="2103120" cy="2194560"/>
          </a:xfrm>
          <a:prstGeom prst="roundRect">
            <a:avLst>
              <a:gd name="adj" fmla="val 3913"/>
            </a:avLst>
          </a:prstGeom>
          <a:solidFill>
            <a:srgbClr val="2E2340"/>
          </a:solidFill>
          <a:ln/>
        </p:spPr>
      </p:sp>
      <p:sp>
        <p:nvSpPr>
          <p:cNvPr id="24" name="Shape 22"/>
          <p:cNvSpPr/>
          <p:nvPr/>
        </p:nvSpPr>
        <p:spPr>
          <a:xfrm>
            <a:off x="8385048" y="1965960"/>
            <a:ext cx="768096" cy="768096"/>
          </a:xfrm>
          <a:prstGeom prst="ellipse">
            <a:avLst/>
          </a:prstGeom>
          <a:solidFill>
            <a:srgbClr val="6D4AA0"/>
          </a:solidFill>
          <a:ln/>
        </p:spPr>
      </p:sp>
      <p:sp>
        <p:nvSpPr>
          <p:cNvPr id="25" name="Text 23"/>
          <p:cNvSpPr/>
          <p:nvPr/>
        </p:nvSpPr>
        <p:spPr>
          <a:xfrm>
            <a:off x="8385048" y="196596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808976" y="2880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golpe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54696" y="33101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funções que mudam dados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774936" y="2148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72D0"/>
                </a:solidFill>
              </a:rPr>
              <a:t>→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10076688" y="1737360"/>
            <a:ext cx="2103120" cy="2194560"/>
          </a:xfrm>
          <a:prstGeom prst="roundRect">
            <a:avLst>
              <a:gd name="adj" fmla="val 3913"/>
            </a:avLst>
          </a:prstGeom>
          <a:solidFill>
            <a:srgbClr val="2E2340"/>
          </a:solidFill>
          <a:ln/>
        </p:spPr>
      </p:sp>
      <p:sp>
        <p:nvSpPr>
          <p:cNvPr id="30" name="Shape 28"/>
          <p:cNvSpPr/>
          <p:nvPr/>
        </p:nvSpPr>
        <p:spPr>
          <a:xfrm>
            <a:off x="10744200" y="1965960"/>
            <a:ext cx="768096" cy="768096"/>
          </a:xfrm>
          <a:prstGeom prst="ellipse">
            <a:avLst/>
          </a:prstGeom>
          <a:solidFill>
            <a:srgbClr val="6D4AA0"/>
          </a:solidFill>
          <a:ln/>
        </p:spPr>
      </p:sp>
      <p:sp>
        <p:nvSpPr>
          <p:cNvPr id="31" name="Text 29"/>
          <p:cNvSpPr/>
          <p:nvPr/>
        </p:nvSpPr>
        <p:spPr>
          <a:xfrm>
            <a:off x="10744200" y="196596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10168128" y="2880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batalha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213848" y="33101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laços (while)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448056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271C33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44805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Começamos com um herói parado. Terminamos a Aula 7 com a primeira batalha jogável — rodando de verdade.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pilares em TODO sistema real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49240" cy="1572768"/>
          </a:xfrm>
          <a:prstGeom prst="roundRect">
            <a:avLst>
              <a:gd name="adj" fmla="val 5233"/>
            </a:avLst>
          </a:prstGeom>
          <a:solidFill>
            <a:srgbClr val="2E2340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965960"/>
            <a:ext cx="384048" cy="384048"/>
          </a:xfrm>
          <a:prstGeom prst="ellipse">
            <a:avLst/>
          </a:prstGeom>
          <a:solidFill>
            <a:srgbClr val="6D4AA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9280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Funções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463040" y="23774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reutilizáveis de lógica.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63040" y="275234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checkout, login, relatórios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91640"/>
            <a:ext cx="5349240" cy="1572768"/>
          </a:xfrm>
          <a:prstGeom prst="roundRect">
            <a:avLst>
              <a:gd name="adj" fmla="val 5233"/>
            </a:avLst>
          </a:prstGeom>
          <a:solidFill>
            <a:srgbClr val="2E234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46520" y="1965960"/>
            <a:ext cx="384048" cy="384048"/>
          </a:xfrm>
          <a:prstGeom prst="ellipse">
            <a:avLst/>
          </a:prstGeom>
          <a:solidFill>
            <a:srgbClr val="6D4AA0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13448" y="189280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(if/else)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013448" y="23774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regras de negócio do sistema.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13448" y="275234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permissões, descontos, validações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465576"/>
            <a:ext cx="5349240" cy="1572768"/>
          </a:xfrm>
          <a:prstGeom prst="roundRect">
            <a:avLst>
              <a:gd name="adj" fmla="val 5233"/>
            </a:avLst>
          </a:prstGeom>
          <a:solidFill>
            <a:srgbClr val="2E2340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3739896"/>
            <a:ext cx="384048" cy="384048"/>
          </a:xfrm>
          <a:prstGeom prst="ellipse">
            <a:avLst/>
          </a:prstGeom>
          <a:solidFill>
            <a:srgbClr val="6D4AA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366674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463040" y="41513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Modelam dados do mundo real.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63040" y="45262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usuário, produto, pedido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90488" y="3465576"/>
            <a:ext cx="5349240" cy="1572768"/>
          </a:xfrm>
          <a:prstGeom prst="roundRect">
            <a:avLst>
              <a:gd name="adj" fmla="val 5233"/>
            </a:avLst>
          </a:prstGeom>
          <a:solidFill>
            <a:srgbClr val="2E2340"/>
          </a:solidFill>
          <a:ln/>
        </p:spPr>
      </p:sp>
      <p:sp>
        <p:nvSpPr>
          <p:cNvPr id="24" name="Shape 22"/>
          <p:cNvSpPr/>
          <p:nvPr/>
        </p:nvSpPr>
        <p:spPr>
          <a:xfrm>
            <a:off x="6446520" y="3739896"/>
            <a:ext cx="384048" cy="384048"/>
          </a:xfrm>
          <a:prstGeom prst="ellipse">
            <a:avLst/>
          </a:prstGeom>
          <a:solidFill>
            <a:srgbClr val="6D4AA0"/>
          </a:solidFill>
          <a:ln/>
        </p:spPr>
      </p:sp>
      <p:sp>
        <p:nvSpPr>
          <p:cNvPr id="25" name="Text 23"/>
          <p:cNvSpPr/>
          <p:nvPr/>
        </p:nvSpPr>
        <p:spPr>
          <a:xfrm>
            <a:off x="6446520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13448" y="366674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Laços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013448" y="41513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 listas e repetições.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13448" y="45262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pedidos, e-mails, cobranças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i="1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no jogo = saber usar no trabalho.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Função: uma máquina de tarefas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195560" y="457200"/>
            <a:ext cx="1417320" cy="457200"/>
          </a:xfrm>
          <a:prstGeom prst="roundRect">
            <a:avLst>
              <a:gd name="adj" fmla="val 18000"/>
            </a:avLst>
          </a:prstGeom>
          <a:solidFill>
            <a:srgbClr val="6D4AA0"/>
          </a:solidFill>
          <a:ln/>
        </p:spPr>
      </p:sp>
      <p:sp>
        <p:nvSpPr>
          <p:cNvPr id="5" name="Text 3"/>
          <p:cNvSpPr/>
          <p:nvPr/>
        </p:nvSpPr>
        <p:spPr>
          <a:xfrm>
            <a:off x="10195560" y="457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 dados de entrada (parâmetros)</a:t>
            </a:r>
            <a:endParaRPr lang="en-US" sz="17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um trabalho</a:t>
            </a:r>
            <a:endParaRPr lang="en-US" sz="17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 um resultado com return</a:t>
            </a:r>
            <a:endParaRPr lang="en-US" sz="17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chama quantas vezes quiser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4114800"/>
            <a:ext cx="1463040" cy="731520"/>
          </a:xfrm>
          <a:prstGeom prst="roundRect">
            <a:avLst>
              <a:gd name="adj" fmla="val 11250"/>
            </a:avLst>
          </a:prstGeom>
          <a:solidFill>
            <a:srgbClr val="2E234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1148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03120" y="411480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72D0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423160" y="4114800"/>
            <a:ext cx="1463040" cy="731520"/>
          </a:xfrm>
          <a:prstGeom prst="roundRect">
            <a:avLst>
              <a:gd name="adj" fmla="val 11250"/>
            </a:avLst>
          </a:prstGeom>
          <a:solidFill>
            <a:srgbClr val="6D4AA0"/>
          </a:solidFill>
          <a:ln/>
        </p:spPr>
      </p:sp>
      <p:sp>
        <p:nvSpPr>
          <p:cNvPr id="12" name="Text 10"/>
          <p:cNvSpPr/>
          <p:nvPr/>
        </p:nvSpPr>
        <p:spPr>
          <a:xfrm>
            <a:off x="2423160" y="41148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86200" y="411480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72D0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206240" y="4114800"/>
            <a:ext cx="1463040" cy="731520"/>
          </a:xfrm>
          <a:prstGeom prst="roundRect">
            <a:avLst>
              <a:gd name="adj" fmla="val 11250"/>
            </a:avLst>
          </a:prstGeom>
          <a:solidFill>
            <a:srgbClr val="2E2340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41148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200" y="173736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141019"/>
          </a:solidFill>
          <a:ln w="12700">
            <a:solidFill>
              <a:srgbClr val="3E33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28232" y="1956816"/>
            <a:ext cx="128016" cy="128016"/>
          </a:xfrm>
          <a:prstGeom prst="ellipse">
            <a:avLst/>
          </a:prstGeom>
          <a:solidFill>
            <a:srgbClr val="E86A5E"/>
          </a:solidFill>
          <a:ln/>
        </p:spPr>
      </p:sp>
      <p:sp>
        <p:nvSpPr>
          <p:cNvPr id="18" name="Shape 16"/>
          <p:cNvSpPr/>
          <p:nvPr/>
        </p:nvSpPr>
        <p:spPr>
          <a:xfrm>
            <a:off x="6684264" y="1956816"/>
            <a:ext cx="128016" cy="128016"/>
          </a:xfrm>
          <a:prstGeom prst="ellipse">
            <a:avLst/>
          </a:prstGeom>
          <a:solidFill>
            <a:srgbClr val="E7BC57"/>
          </a:solidFill>
          <a:ln/>
        </p:spPr>
      </p:sp>
      <p:sp>
        <p:nvSpPr>
          <p:cNvPr id="19" name="Shape 17"/>
          <p:cNvSpPr/>
          <p:nvPr/>
        </p:nvSpPr>
        <p:spPr>
          <a:xfrm>
            <a:off x="6940296" y="1956816"/>
            <a:ext cx="128016" cy="12801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2304288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calcularPoder(p) {</a:t>
            </a:r>
            <a:endParaRPr lang="en-US" sz="15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p.ataque * 2</a:t>
            </a:r>
            <a:endParaRPr lang="en-US" sz="15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+ p.nivel * 5;</a:t>
            </a:r>
            <a:endParaRPr lang="en-US" sz="15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calcularPoder(heroi);</a:t>
            </a:r>
            <a:endParaRPr lang="en-US" sz="15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500" dirty="0">
                <a:solidFill>
                  <a:srgbClr val="A9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devolve 45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MUNDO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Funções no mercado de trabalho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195560" y="457200"/>
            <a:ext cx="1417320" cy="457200"/>
          </a:xfrm>
          <a:prstGeom prst="roundRect">
            <a:avLst>
              <a:gd name="adj" fmla="val 18000"/>
            </a:avLst>
          </a:prstGeom>
          <a:solidFill>
            <a:srgbClr val="6D4AA0"/>
          </a:solidFill>
          <a:ln/>
        </p:spPr>
      </p:sp>
      <p:sp>
        <p:nvSpPr>
          <p:cNvPr id="5" name="Text 3"/>
          <p:cNvSpPr/>
          <p:nvPr/>
        </p:nvSpPr>
        <p:spPr>
          <a:xfrm>
            <a:off x="10195560" y="457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mesmas ideias, em qualquer sistema: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368296"/>
            <a:ext cx="137160" cy="137160"/>
          </a:xfrm>
          <a:prstGeom prst="ellipse">
            <a:avLst/>
          </a:prstGeom>
          <a:solidFill>
            <a:srgbClr val="9B72D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24028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validarCPF(cpf)   </a:t>
            </a:r>
            <a:r>
              <a:rPr lang="en-US" sz="13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 se o CPF é válido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962656"/>
            <a:ext cx="137160" cy="137160"/>
          </a:xfrm>
          <a:prstGeom prst="ellipse">
            <a:avLst/>
          </a:prstGeom>
          <a:solidFill>
            <a:srgbClr val="9B72D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346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calcularFrete(cep, peso)   </a:t>
            </a:r>
            <a:r>
              <a:rPr lang="en-US" sz="13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devolve o valor do frete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57016"/>
            <a:ext cx="137160" cy="137160"/>
          </a:xfrm>
          <a:prstGeom prst="ellipse">
            <a:avLst/>
          </a:prstGeom>
          <a:solidFill>
            <a:srgbClr val="9B72D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42900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formatarMoeda(valor)   </a:t>
            </a:r>
            <a:r>
              <a:rPr lang="en-US" sz="13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"R$ 19,90"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151376"/>
            <a:ext cx="137160" cy="137160"/>
          </a:xfrm>
          <a:prstGeom prst="ellipse">
            <a:avLst/>
          </a:prstGeom>
          <a:solidFill>
            <a:srgbClr val="9B72D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enviarEmail(dest, msg)   </a:t>
            </a:r>
            <a:r>
              <a:rPr lang="en-US" sz="13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 um e-mail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1737360"/>
            <a:ext cx="5212080" cy="2286000"/>
          </a:xfrm>
          <a:prstGeom prst="roundRect">
            <a:avLst>
              <a:gd name="adj" fmla="val 3600"/>
            </a:avLst>
          </a:prstGeom>
          <a:solidFill>
            <a:srgbClr val="141019"/>
          </a:solidFill>
          <a:ln w="12700">
            <a:solidFill>
              <a:srgbClr val="3E33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65392" y="1956816"/>
            <a:ext cx="128016" cy="128016"/>
          </a:xfrm>
          <a:prstGeom prst="ellipse">
            <a:avLst/>
          </a:prstGeom>
          <a:solidFill>
            <a:srgbClr val="E86A5E"/>
          </a:solidFill>
          <a:ln/>
        </p:spPr>
      </p:sp>
      <p:sp>
        <p:nvSpPr>
          <p:cNvPr id="18" name="Shape 16"/>
          <p:cNvSpPr/>
          <p:nvPr/>
        </p:nvSpPr>
        <p:spPr>
          <a:xfrm>
            <a:off x="6821424" y="1956816"/>
            <a:ext cx="128016" cy="128016"/>
          </a:xfrm>
          <a:prstGeom prst="ellipse">
            <a:avLst/>
          </a:prstGeom>
          <a:solidFill>
            <a:srgbClr val="E7BC57"/>
          </a:solidFill>
          <a:ln/>
        </p:spPr>
      </p:sp>
      <p:sp>
        <p:nvSpPr>
          <p:cNvPr id="19" name="Shape 17"/>
          <p:cNvSpPr/>
          <p:nvPr/>
        </p:nvSpPr>
        <p:spPr>
          <a:xfrm>
            <a:off x="7077456" y="1956816"/>
            <a:ext cx="128016" cy="12801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2304288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formatarMoeda(v) {</a:t>
            </a:r>
            <a:endParaRPr lang="en-US" sz="13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3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"R$ " + v.toFixed(2);</a:t>
            </a:r>
            <a:endParaRPr lang="en-US" sz="13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3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09360" y="4206240"/>
            <a:ext cx="5212080" cy="1143000"/>
          </a:xfrm>
          <a:prstGeom prst="roundRect">
            <a:avLst>
              <a:gd name="adj" fmla="val 7200"/>
            </a:avLst>
          </a:prstGeom>
          <a:solidFill>
            <a:srgbClr val="271C33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20624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DRY: escreva uma vez, use em todo lugar. Menos código repetido = menos bugs.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ISSO VAI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Função → Método → Classe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2E234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3957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"solta"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971800"/>
            <a:ext cx="3063240" cy="1280160"/>
          </a:xfrm>
          <a:prstGeom prst="roundRect">
            <a:avLst>
              <a:gd name="adj" fmla="val 6429"/>
            </a:avLst>
          </a:prstGeom>
          <a:solidFill>
            <a:srgbClr val="141019"/>
          </a:solidFill>
          <a:ln w="12700">
            <a:solidFill>
              <a:srgbClr val="3E3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atacar(heroi, goblin);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16552" y="173736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2E2340"/>
          </a:solidFill>
          <a:ln/>
        </p:spPr>
      </p:sp>
      <p:sp>
        <p:nvSpPr>
          <p:cNvPr id="11" name="Text 9"/>
          <p:cNvSpPr/>
          <p:nvPr/>
        </p:nvSpPr>
        <p:spPr>
          <a:xfrm>
            <a:off x="4645152" y="1920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5152" y="23957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DO objeto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2971800"/>
            <a:ext cx="3063240" cy="1280160"/>
          </a:xfrm>
          <a:prstGeom prst="roundRect">
            <a:avLst>
              <a:gd name="adj" fmla="val 6429"/>
            </a:avLst>
          </a:prstGeom>
          <a:solidFill>
            <a:srgbClr val="141019"/>
          </a:solidFill>
          <a:ln w="12700">
            <a:solidFill>
              <a:srgbClr val="3E33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2312" y="297180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heroi.atacar(goblin);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93024" y="173736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2E2340"/>
          </a:solidFill>
          <a:ln/>
        </p:spPr>
      </p:sp>
      <p:sp>
        <p:nvSpPr>
          <p:cNvPr id="16" name="Text 14"/>
          <p:cNvSpPr/>
          <p:nvPr/>
        </p:nvSpPr>
        <p:spPr>
          <a:xfrm>
            <a:off x="8421624" y="1920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21624" y="23957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molde de objetos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421624" y="2971800"/>
            <a:ext cx="3063240" cy="1280160"/>
          </a:xfrm>
          <a:prstGeom prst="roundRect">
            <a:avLst>
              <a:gd name="adj" fmla="val 6429"/>
            </a:avLst>
          </a:prstGeom>
          <a:solidFill>
            <a:srgbClr val="141019"/>
          </a:solidFill>
          <a:ln w="12700">
            <a:solidFill>
              <a:srgbClr val="3E33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58784" y="297180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Usuario { }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70916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271C33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7091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mercado, sistemas são objetos com métodos, criados por classes. No curso chegamos lá na Aula 10 — hoje a base são as funções.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7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937760"/>
            <a:ext cx="3291840" cy="3291840"/>
          </a:xfrm>
          <a:prstGeom prst="ellipse">
            <a:avLst/>
          </a:prstGeom>
          <a:solidFill>
            <a:srgbClr val="1E1526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1E15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PARA PRATICAR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1 · Funções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10698480" cy="2286000"/>
          </a:xfrm>
          <a:prstGeom prst="roundRect">
            <a:avLst>
              <a:gd name="adj" fmla="val 3600"/>
            </a:avLst>
          </a:prstGeom>
          <a:solidFill>
            <a:srgbClr val="2E2340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8346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a função curar(personagem, quantidade) que aumenta a vida e imprime a vida nova.</a:t>
            </a:r>
            <a:endParaRPr lang="en-US" sz="1900" dirty="0"/>
          </a:p>
          <a:p>
            <a:pPr marL="0" indent="0">
              <a:lnSpc>
                <a:spcPct val="115000"/>
              </a:lnSpc>
              <a:buNone/>
            </a:pPr>
            <a:endParaRPr lang="en-US" sz="1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Depois, crie DOIS heróis diferentes com criarHeroi() e mostre a ficha dos dois.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Decisões: o código escolhe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195560" y="457200"/>
            <a:ext cx="1417320" cy="457200"/>
          </a:xfrm>
          <a:prstGeom prst="roundRect">
            <a:avLst>
              <a:gd name="adj" fmla="val 18000"/>
            </a:avLst>
          </a:prstGeom>
          <a:solidFill>
            <a:srgbClr val="6D4AA0"/>
          </a:solidFill>
          <a:ln/>
        </p:spPr>
      </p:sp>
      <p:sp>
        <p:nvSpPr>
          <p:cNvPr id="5" name="Text 3"/>
          <p:cNvSpPr/>
          <p:nvPr/>
        </p:nvSpPr>
        <p:spPr>
          <a:xfrm>
            <a:off x="10195560" y="457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else if / else</a:t>
            </a:r>
            <a:endParaRPr lang="en-US" sz="17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Comparações: ===  !==  &gt;  &lt;  &gt;=  &lt;=</a:t>
            </a:r>
            <a:endParaRPr lang="en-US" sz="17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=== (três iguais) para comparar</a:t>
            </a:r>
            <a:endParaRPr lang="en-US" sz="17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(um) atribui · === compara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4343400"/>
            <a:ext cx="5120640" cy="960120"/>
          </a:xfrm>
          <a:prstGeom prst="roundRect">
            <a:avLst>
              <a:gd name="adj" fmla="val 8571"/>
            </a:avLst>
          </a:prstGeom>
          <a:solidFill>
            <a:srgbClr val="271C33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34340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comparação sempre devolve true ou false.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141019"/>
          </a:solidFill>
          <a:ln w="12700">
            <a:solidFill>
              <a:srgbClr val="3E33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1956816"/>
            <a:ext cx="128016" cy="128016"/>
          </a:xfrm>
          <a:prstGeom prst="ellipse">
            <a:avLst/>
          </a:prstGeom>
          <a:solidFill>
            <a:srgbClr val="E86A5E"/>
          </a:solidFill>
          <a:ln/>
        </p:spPr>
      </p:sp>
      <p:sp>
        <p:nvSpPr>
          <p:cNvPr id="12" name="Shape 10"/>
          <p:cNvSpPr/>
          <p:nvPr/>
        </p:nvSpPr>
        <p:spPr>
          <a:xfrm>
            <a:off x="6684264" y="1956816"/>
            <a:ext cx="128016" cy="128016"/>
          </a:xfrm>
          <a:prstGeom prst="ellipse">
            <a:avLst/>
          </a:prstGeom>
          <a:solidFill>
            <a:srgbClr val="E7BC57"/>
          </a:solidFill>
          <a:ln/>
        </p:spPr>
      </p:sp>
      <p:sp>
        <p:nvSpPr>
          <p:cNvPr id="13" name="Shape 11"/>
          <p:cNvSpPr/>
          <p:nvPr/>
        </p:nvSpPr>
        <p:spPr>
          <a:xfrm>
            <a:off x="6940296" y="1956816"/>
            <a:ext cx="128016" cy="12801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2304288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(heroi.vida &lt;= 0) {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console.log("derrotado");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if (heroi.vida &lt; 30) {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console.log("crítico");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console.log("bem");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MUNDO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no mercado de trabalho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195560" y="457200"/>
            <a:ext cx="1417320" cy="457200"/>
          </a:xfrm>
          <a:prstGeom prst="roundRect">
            <a:avLst>
              <a:gd name="adj" fmla="val 18000"/>
            </a:avLst>
          </a:prstGeom>
          <a:solidFill>
            <a:srgbClr val="6D4AA0"/>
          </a:solidFill>
          <a:ln/>
        </p:spPr>
      </p:sp>
      <p:sp>
        <p:nvSpPr>
          <p:cNvPr id="5" name="Text 3"/>
          <p:cNvSpPr/>
          <p:nvPr/>
        </p:nvSpPr>
        <p:spPr>
          <a:xfrm>
            <a:off x="10195560" y="457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2E234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7452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2286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(senha === correta) → entra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0488" y="1737360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2E2340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87452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Permissão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19088" y="2286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(usuario.admin) → mostra painel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2E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31012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68680" y="3721608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(total &gt; 200) → aplica 10%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3172968"/>
            <a:ext cx="5349240" cy="1234440"/>
          </a:xfrm>
          <a:prstGeom prst="roundRect">
            <a:avLst>
              <a:gd name="adj" fmla="val 6667"/>
            </a:avLst>
          </a:prstGeom>
          <a:solidFill>
            <a:srgbClr val="2E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19088" y="331012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19088" y="3721608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(email vazio) → avisa erro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271C33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5262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regra de negócio é um if. Descontos, acessos, cobranças — tudo decisão.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7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937760"/>
            <a:ext cx="3291840" cy="3291840"/>
          </a:xfrm>
          <a:prstGeom prst="ellipse">
            <a:avLst/>
          </a:prstGeom>
          <a:solidFill>
            <a:srgbClr val="1E1526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1E15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PARA PRATICAR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2 · Decisões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10698480" cy="2286000"/>
          </a:xfrm>
          <a:prstGeom prst="roundRect">
            <a:avLst>
              <a:gd name="adj" fmla="val 3600"/>
            </a:avLst>
          </a:prstGeom>
          <a:solidFill>
            <a:srgbClr val="2E2340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8346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classificarForca(personagem): calcule o poder e imprima "fraco" (&lt; 40), "mediano" (&lt; 70) ou "forte".</a:t>
            </a:r>
            <a:endParaRPr lang="en-US" sz="1900" dirty="0"/>
          </a:p>
          <a:p>
            <a:pPr marL="0" indent="0">
              <a:lnSpc>
                <a:spcPct val="115000"/>
              </a:lnSpc>
              <a:buNone/>
            </a:pPr>
            <a:endParaRPr lang="en-US" sz="1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Bônus: uma função de desconto por faixa de valor da compra.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Objetos: modelar o mundo real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195560" y="457200"/>
            <a:ext cx="1417320" cy="457200"/>
          </a:xfrm>
          <a:prstGeom prst="roundRect">
            <a:avLst>
              <a:gd name="adj" fmla="val 18000"/>
            </a:avLst>
          </a:prstGeom>
          <a:solidFill>
            <a:srgbClr val="6D4AA0"/>
          </a:solidFill>
          <a:ln/>
        </p:spPr>
      </p:sp>
      <p:sp>
        <p:nvSpPr>
          <p:cNvPr id="5" name="Text 3"/>
          <p:cNvSpPr/>
          <p:nvPr/>
        </p:nvSpPr>
        <p:spPr>
          <a:xfrm>
            <a:off x="10195560" y="457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objeto agrupa os dados de UMA coisa</a:t>
            </a:r>
            <a:endParaRPr lang="en-US" sz="16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Herói e inimigo com o MESMO formato...</a:t>
            </a:r>
            <a:endParaRPr lang="en-US" sz="16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...fazem a mesma função servir nos dois</a:t>
            </a:r>
            <a:endParaRPr lang="en-US" sz="16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Reuso: escreveu uma vez, serve para todos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389120"/>
            <a:ext cx="5120640" cy="960120"/>
          </a:xfrm>
          <a:prstGeom prst="roundRect">
            <a:avLst>
              <a:gd name="adj" fmla="val 8571"/>
            </a:avLst>
          </a:prstGeom>
          <a:solidFill>
            <a:srgbClr val="271C33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389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devolvem objetos (JSON) o tempo todo: usuário, produto, pedido.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141019"/>
          </a:solidFill>
          <a:ln w="12700">
            <a:solidFill>
              <a:srgbClr val="3E33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1956816"/>
            <a:ext cx="128016" cy="128016"/>
          </a:xfrm>
          <a:prstGeom prst="ellipse">
            <a:avLst/>
          </a:prstGeom>
          <a:solidFill>
            <a:srgbClr val="E86A5E"/>
          </a:solidFill>
          <a:ln/>
        </p:spPr>
      </p:sp>
      <p:sp>
        <p:nvSpPr>
          <p:cNvPr id="12" name="Shape 10"/>
          <p:cNvSpPr/>
          <p:nvPr/>
        </p:nvSpPr>
        <p:spPr>
          <a:xfrm>
            <a:off x="6684264" y="1956816"/>
            <a:ext cx="128016" cy="128016"/>
          </a:xfrm>
          <a:prstGeom prst="ellipse">
            <a:avLst/>
          </a:prstGeom>
          <a:solidFill>
            <a:srgbClr val="E7BC57"/>
          </a:solidFill>
          <a:ln/>
        </p:spPr>
      </p:sp>
      <p:sp>
        <p:nvSpPr>
          <p:cNvPr id="13" name="Shape 11"/>
          <p:cNvSpPr/>
          <p:nvPr/>
        </p:nvSpPr>
        <p:spPr>
          <a:xfrm>
            <a:off x="6940296" y="1956816"/>
            <a:ext cx="128016" cy="12801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2304288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goblin = {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nome: "Goblin",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vida: 40,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ataque: 10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mostrarFicha(goblin); // reuso!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+ 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Funções que mudam as coisas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195560" y="457200"/>
            <a:ext cx="1417320" cy="457200"/>
          </a:xfrm>
          <a:prstGeom prst="roundRect">
            <a:avLst>
              <a:gd name="adj" fmla="val 18000"/>
            </a:avLst>
          </a:prstGeom>
          <a:solidFill>
            <a:srgbClr val="6D4AA0"/>
          </a:solidFill>
          <a:ln/>
        </p:spPr>
      </p:sp>
      <p:sp>
        <p:nvSpPr>
          <p:cNvPr id="5" name="Text 3"/>
          <p:cNvSpPr/>
          <p:nvPr/>
        </p:nvSpPr>
        <p:spPr>
          <a:xfrm>
            <a:off x="10195560" y="457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5394960" cy="3108960"/>
          </a:xfrm>
          <a:prstGeom prst="roundRect">
            <a:avLst>
              <a:gd name="adj" fmla="val 2647"/>
            </a:avLst>
          </a:prstGeom>
          <a:solidFill>
            <a:srgbClr val="141019"/>
          </a:solidFill>
          <a:ln w="12700">
            <a:solidFill>
              <a:srgbClr val="3E33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1956816"/>
            <a:ext cx="128016" cy="128016"/>
          </a:xfrm>
          <a:prstGeom prst="ellipse">
            <a:avLst/>
          </a:prstGeom>
          <a:solidFill>
            <a:srgbClr val="E86A5E"/>
          </a:solidFill>
          <a:ln/>
        </p:spPr>
      </p:sp>
      <p:sp>
        <p:nvSpPr>
          <p:cNvPr id="9" name="Shape 7"/>
          <p:cNvSpPr/>
          <p:nvPr/>
        </p:nvSpPr>
        <p:spPr>
          <a:xfrm>
            <a:off x="1152144" y="1956816"/>
            <a:ext cx="128016" cy="128016"/>
          </a:xfrm>
          <a:prstGeom prst="ellipse">
            <a:avLst/>
          </a:prstGeom>
          <a:solidFill>
            <a:srgbClr val="E7BC57"/>
          </a:solidFill>
          <a:ln/>
        </p:spPr>
      </p:sp>
      <p:sp>
        <p:nvSpPr>
          <p:cNvPr id="10" name="Shape 8"/>
          <p:cNvSpPr/>
          <p:nvPr/>
        </p:nvSpPr>
        <p:spPr>
          <a:xfrm>
            <a:off x="1408176" y="1956816"/>
            <a:ext cx="128016" cy="12801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304288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atacar(quem, alvo) {</a:t>
            </a:r>
            <a:endParaRPr lang="en-US" sz="13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dano = quem.ataque</a:t>
            </a:r>
            <a:endParaRPr lang="en-US" sz="13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- alvo.defesa;</a:t>
            </a:r>
            <a:endParaRPr lang="en-US" sz="13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(dano &lt; 1) dano = 1;</a:t>
            </a:r>
            <a:endParaRPr lang="en-US" sz="13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alvo.vida -= dano;</a:t>
            </a:r>
            <a:endParaRPr lang="en-US" sz="13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350" dirty="0">
                <a:solidFill>
                  <a:srgbClr val="A99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 // &lt;- muda o alvo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309360" y="17373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mercado, é o coração do sistema: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2459736"/>
            <a:ext cx="137160" cy="137160"/>
          </a:xfrm>
          <a:prstGeom prst="ellipse">
            <a:avLst/>
          </a:prstGeom>
          <a:solidFill>
            <a:srgbClr val="9B72D0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23317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sacar(conta, valor)   </a:t>
            </a:r>
            <a:r>
              <a:rPr lang="en-US" sz="13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o saldo da conta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054096"/>
            <a:ext cx="137160" cy="137160"/>
          </a:xfrm>
          <a:prstGeom prst="ellipse">
            <a:avLst/>
          </a:prstGeom>
          <a:solidFill>
            <a:srgbClr val="9B72D0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29260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addAoCarrinho(cart, item)   </a:t>
            </a:r>
            <a:r>
              <a:rPr lang="en-US" sz="13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o carrinho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3648456"/>
            <a:ext cx="137160" cy="137160"/>
          </a:xfrm>
          <a:prstGeom prst="ellipse">
            <a:avLst/>
          </a:prstGeom>
          <a:solidFill>
            <a:srgbClr val="9B72D0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35204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darBaixaEstoque(prod, qtd)   </a:t>
            </a:r>
            <a:r>
              <a:rPr lang="en-US" sz="13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o estoque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4343400"/>
            <a:ext cx="5212080" cy="822960"/>
          </a:xfrm>
          <a:prstGeom prst="roundRect">
            <a:avLst>
              <a:gd name="adj" fmla="val 10000"/>
            </a:avLst>
          </a:prstGeom>
          <a:solidFill>
            <a:srgbClr val="271C33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43434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Muitas funções existem só para ALTERAR um objeto.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7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937760"/>
            <a:ext cx="3291840" cy="3291840"/>
          </a:xfrm>
          <a:prstGeom prst="ellipse">
            <a:avLst/>
          </a:prstGeom>
          <a:solidFill>
            <a:srgbClr val="1E1526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1E15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PARA PRATICAR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3 · O golpe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10698480" cy="2286000"/>
          </a:xfrm>
          <a:prstGeom prst="roundRect">
            <a:avLst>
              <a:gd name="adj" fmla="val 3600"/>
            </a:avLst>
          </a:prstGeom>
          <a:solidFill>
            <a:srgbClr val="2E2340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8346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inimigo orc com criarInimigo(). Faça heroi e orc trocarem 2 golpes cada com atacar().</a:t>
            </a:r>
            <a:endParaRPr lang="en-US" sz="1900" dirty="0"/>
          </a:p>
          <a:p>
            <a:pPr marL="0" indent="0">
              <a:lnSpc>
                <a:spcPct val="115000"/>
              </a:lnSpc>
              <a:buNone/>
            </a:pPr>
            <a:endParaRPr lang="en-US" sz="1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fim, mostre a vida dos dois.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+ 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Laços: repetir sem repetir código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195560" y="457200"/>
            <a:ext cx="1417320" cy="457200"/>
          </a:xfrm>
          <a:prstGeom prst="roundRect">
            <a:avLst>
              <a:gd name="adj" fmla="val 18000"/>
            </a:avLst>
          </a:prstGeom>
          <a:solidFill>
            <a:srgbClr val="6D4AA0"/>
          </a:solidFill>
          <a:ln/>
        </p:spPr>
      </p:sp>
      <p:sp>
        <p:nvSpPr>
          <p:cNvPr id="5" name="Text 3"/>
          <p:cNvSpPr/>
          <p:nvPr/>
        </p:nvSpPr>
        <p:spPr>
          <a:xfrm>
            <a:off x="10195560" y="4572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repete ENQUANTO a condição for verdadeira</a:t>
            </a:r>
            <a:endParaRPr lang="en-US" sz="16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Perfeito para "lutar até alguém cair"</a:t>
            </a:r>
            <a:endParaRPr lang="en-US" sz="16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8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Cuidado: sem parada = loop infinito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8862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mercado: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processar pedidos · enviar N e-mails · tentar até dar certo · paginação de dados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141019"/>
          </a:solidFill>
          <a:ln w="12700">
            <a:solidFill>
              <a:srgbClr val="3E33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28232" y="1956816"/>
            <a:ext cx="128016" cy="128016"/>
          </a:xfrm>
          <a:prstGeom prst="ellipse">
            <a:avLst/>
          </a:prstGeom>
          <a:solidFill>
            <a:srgbClr val="E86A5E"/>
          </a:solidFill>
          <a:ln/>
        </p:spPr>
      </p:sp>
      <p:sp>
        <p:nvSpPr>
          <p:cNvPr id="12" name="Shape 10"/>
          <p:cNvSpPr/>
          <p:nvPr/>
        </p:nvSpPr>
        <p:spPr>
          <a:xfrm>
            <a:off x="6684264" y="1956816"/>
            <a:ext cx="128016" cy="128016"/>
          </a:xfrm>
          <a:prstGeom prst="ellipse">
            <a:avLst/>
          </a:prstGeom>
          <a:solidFill>
            <a:srgbClr val="E7BC57"/>
          </a:solidFill>
          <a:ln/>
        </p:spPr>
      </p:sp>
      <p:sp>
        <p:nvSpPr>
          <p:cNvPr id="13" name="Shape 11"/>
          <p:cNvSpPr/>
          <p:nvPr/>
        </p:nvSpPr>
        <p:spPr>
          <a:xfrm>
            <a:off x="6940296" y="1956816"/>
            <a:ext cx="128016" cy="12801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2304288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(heroi.estaVivo()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&amp;&amp; inimigo.estaVivo()) {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atacar(heroi, inimigo);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7BC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atacar(inimigo, heroi);</a:t>
            </a:r>
            <a:endParaRPr lang="en-US" sz="14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dirty="0">
                <a:solidFill>
                  <a:srgbClr val="ECE5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7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937760"/>
            <a:ext cx="3291840" cy="3291840"/>
          </a:xfrm>
          <a:prstGeom prst="ellipse">
            <a:avLst/>
          </a:prstGeom>
          <a:solidFill>
            <a:srgbClr val="1E1526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097280"/>
            <a:ext cx="3291840" cy="3291840"/>
          </a:xfrm>
          <a:prstGeom prst="ellipse">
            <a:avLst/>
          </a:prstGeom>
          <a:solidFill>
            <a:srgbClr val="1E15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PARA PRATICAR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4 · A batalha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10698480" cy="2286000"/>
          </a:xfrm>
          <a:prstGeom prst="roundRect">
            <a:avLst>
              <a:gd name="adj" fmla="val 3600"/>
            </a:avLst>
          </a:prstGeom>
          <a:solidFill>
            <a:srgbClr val="2E2340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8346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Junte tudo: use while para heroi e um inimigo trocarem golpes até um cair.</a:t>
            </a:r>
            <a:endParaRPr lang="en-US" sz="1900" dirty="0"/>
          </a:p>
          <a:p>
            <a:pPr marL="0" indent="0">
              <a:lnSpc>
                <a:spcPct val="115000"/>
              </a:lnSpc>
              <a:buNone/>
            </a:pPr>
            <a:endParaRPr lang="en-US" sz="19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fim, imprima quem venceu e em quantos turnos.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JUNTANDO AS PEÇAS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as peças se encaixam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965960" cy="1554480"/>
          </a:xfrm>
          <a:prstGeom prst="roundRect">
            <a:avLst>
              <a:gd name="adj" fmla="val 5294"/>
            </a:avLst>
          </a:prstGeom>
          <a:solidFill>
            <a:srgbClr val="2E234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4688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herói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87752" y="2286000"/>
            <a:ext cx="2926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72D0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862072" y="2286000"/>
            <a:ext cx="1965960" cy="1554480"/>
          </a:xfrm>
          <a:prstGeom prst="roundRect">
            <a:avLst>
              <a:gd name="adj" fmla="val 5294"/>
            </a:avLst>
          </a:prstGeom>
          <a:solidFill>
            <a:srgbClr val="2E2340"/>
          </a:solidFill>
          <a:ln/>
        </p:spPr>
      </p:sp>
      <p:sp>
        <p:nvSpPr>
          <p:cNvPr id="10" name="Text 8"/>
          <p:cNvSpPr/>
          <p:nvPr/>
        </p:nvSpPr>
        <p:spPr>
          <a:xfrm>
            <a:off x="2953512" y="24688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953512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atacar()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9744" y="2286000"/>
            <a:ext cx="2926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72D0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84064" y="2286000"/>
            <a:ext cx="1965960" cy="1554480"/>
          </a:xfrm>
          <a:prstGeom prst="roundRect">
            <a:avLst>
              <a:gd name="adj" fmla="val 5294"/>
            </a:avLst>
          </a:prstGeom>
          <a:solidFill>
            <a:srgbClr val="2E2340"/>
          </a:solidFill>
          <a:ln/>
        </p:spPr>
      </p:sp>
      <p:sp>
        <p:nvSpPr>
          <p:cNvPr id="14" name="Text 12"/>
          <p:cNvSpPr/>
          <p:nvPr/>
        </p:nvSpPr>
        <p:spPr>
          <a:xfrm>
            <a:off x="5175504" y="24688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75504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vivo?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31736" y="2286000"/>
            <a:ext cx="2926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72D0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306056" y="2286000"/>
            <a:ext cx="1965960" cy="1554480"/>
          </a:xfrm>
          <a:prstGeom prst="roundRect">
            <a:avLst>
              <a:gd name="adj" fmla="val 5294"/>
            </a:avLst>
          </a:prstGeom>
          <a:solidFill>
            <a:srgbClr val="2E2340"/>
          </a:solidFill>
          <a:ln/>
        </p:spPr>
      </p:sp>
      <p:sp>
        <p:nvSpPr>
          <p:cNvPr id="18" name="Text 16"/>
          <p:cNvSpPr/>
          <p:nvPr/>
        </p:nvSpPr>
        <p:spPr>
          <a:xfrm>
            <a:off x="7397496" y="24688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Laço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97496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turnos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53728" y="2286000"/>
            <a:ext cx="2926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72D0"/>
                </a:solidFill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528048" y="2286000"/>
            <a:ext cx="1965960" cy="1554480"/>
          </a:xfrm>
          <a:prstGeom prst="roundRect">
            <a:avLst>
              <a:gd name="adj" fmla="val 5294"/>
            </a:avLst>
          </a:prstGeom>
          <a:solidFill>
            <a:srgbClr val="6D4AA0"/>
          </a:solidFill>
          <a:ln/>
        </p:spPr>
      </p:sp>
      <p:sp>
        <p:nvSpPr>
          <p:cNvPr id="22" name="Text 20"/>
          <p:cNvSpPr/>
          <p:nvPr/>
        </p:nvSpPr>
        <p:spPr>
          <a:xfrm>
            <a:off x="9619488" y="24688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Batalha!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619488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jogável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271C33"/>
          </a:solidFill>
          <a:ln w="12700">
            <a:solidFill>
              <a:srgbClr val="E7BC5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434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mesmas 4 peças montam um jogo... ou um e-commerce, ou um app de banco.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206240" cy="4206240"/>
          </a:xfrm>
          <a:prstGeom prst="ellipse">
            <a:avLst/>
          </a:prstGeom>
          <a:solidFill>
            <a:srgbClr val="271C3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754880"/>
            <a:ext cx="3657600" cy="3657600"/>
          </a:xfrm>
          <a:prstGeom prst="ellipse">
            <a:avLst/>
          </a:prstGeom>
          <a:solidFill>
            <a:srgbClr val="271C33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256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B7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FIM DA AULA 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7BC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Vocês vão saber...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e reutilizar funções (parâmetros e return)</a:t>
            </a:r>
            <a:endParaRPr lang="en-US" sz="17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decisões com if / else e comparações</a:t>
            </a:r>
            <a:endParaRPr lang="en-US" sz="17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dados com objetos e reaproveitar código</a:t>
            </a:r>
            <a:endParaRPr lang="en-US" sz="17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funções que alteram o estado do sistema</a:t>
            </a:r>
            <a:endParaRPr lang="en-US" sz="1700" dirty="0"/>
          </a:p>
          <a:p>
            <a:pPr marL="203200" indent="-203200" algn="l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E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laços para repetir tarefas com segurança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589520" y="1828800"/>
            <a:ext cx="3931920" cy="3291840"/>
          </a:xfrm>
          <a:prstGeom prst="roundRect">
            <a:avLst>
              <a:gd name="adj" fmla="val 2500"/>
            </a:avLst>
          </a:prstGeom>
          <a:solidFill>
            <a:srgbClr val="6D4AA0"/>
          </a:solidFill>
          <a:ln/>
        </p:spPr>
      </p:sp>
      <p:sp>
        <p:nvSpPr>
          <p:cNvPr id="8" name="Text 6"/>
          <p:cNvSpPr/>
          <p:nvPr/>
        </p:nvSpPr>
        <p:spPr>
          <a:xfrm>
            <a:off x="7818120" y="210312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Isso é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verdade.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818120" y="38862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7B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vocês terão um jogo jogável para provar.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0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9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1569</Words>
  <Application>Microsoft Office PowerPoint</Application>
  <PresentationFormat>Widescreen</PresentationFormat>
  <Paragraphs>257</Paragraphs>
  <Slides>17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Phillipe Democh da Silva</cp:lastModifiedBy>
  <cp:revision>2</cp:revision>
  <dcterms:created xsi:type="dcterms:W3CDTF">2026-07-18T11:40:21Z</dcterms:created>
  <dcterms:modified xsi:type="dcterms:W3CDTF">2026-07-18T11:53:17Z</dcterms:modified>
</cp:coreProperties>
</file>