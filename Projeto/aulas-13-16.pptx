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final: o jogo vira clicável, ganha save e um chefe.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Marco: aula 14 vira clicável; aula 16 é o jogo pronto e 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Ideia central: separar a lógica (regras) da apresentação (o que aparece na tela).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Conecte o innerHTML aos frameworks modernos — é a mesma ideia por baixo.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 clássico: passar a função SEM os parênteses no addEventListener.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exemplos: que cliques eles fazem num app por dia? Cada um é um evento.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Lembre de trocar console.log por escreverLog para as mensagens aparecerem na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localStorage guarda texto; por isso o JSON. Trate o null no primeiro carregamento.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das lições mais valiosas do curso: JSON preserva dados, não funções.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 real: recarregar a aba e continuar de onde parou.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Aproveite o bug do Novo Jogo como lição: referência compartilhada e recriação de objetos.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do curso inteiro. Celebre a jornada e aponte próximos passos (CSS, frameworks).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3840480" cy="3840480"/>
          </a:xfrm>
          <a:prstGeom prst="ellipse">
            <a:avLst/>
          </a:prstGeom>
          <a:solidFill>
            <a:srgbClr val="271C33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572000"/>
            <a:ext cx="4206240" cy="4206240"/>
          </a:xfrm>
          <a:prstGeom prst="ellipse">
            <a:avLst/>
          </a:prstGeom>
          <a:solidFill>
            <a:srgbClr val="271C3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JAVASCRIPT · PROGRAMAÇÃO NA PRÁTICA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Tela, Cliques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 Chefe Final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13 a 16 — a interface e o desfecho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57200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4791456"/>
            <a:ext cx="128016" cy="128016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9" name="Shape 7"/>
          <p:cNvSpPr/>
          <p:nvPr/>
        </p:nvSpPr>
        <p:spPr>
          <a:xfrm>
            <a:off x="1243584" y="4791456"/>
            <a:ext cx="128016" cy="128016"/>
          </a:xfrm>
          <a:prstGeom prst="ellipse">
            <a:avLst/>
          </a:prstGeom>
          <a:solidFill>
            <a:srgbClr val="E7BC57"/>
          </a:solidFill>
          <a:ln/>
        </p:spPr>
      </p:sp>
      <p:sp>
        <p:nvSpPr>
          <p:cNvPr id="10" name="Shape 8"/>
          <p:cNvSpPr/>
          <p:nvPr/>
        </p:nvSpPr>
        <p:spPr>
          <a:xfrm>
            <a:off x="1499616" y="4791456"/>
            <a:ext cx="128016" cy="128016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513892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9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 jogo sai do console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document.getElementById("ficha");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finalizar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03708" y="1737360"/>
            <a:ext cx="2606040" cy="2194560"/>
          </a:xfrm>
          <a:prstGeom prst="roundRect">
            <a:avLst>
              <a:gd name="adj" fmla="val 3750"/>
            </a:avLst>
          </a:prstGeom>
          <a:solidFill>
            <a:srgbClr val="2E2340"/>
          </a:solidFill>
          <a:ln/>
        </p:spPr>
      </p:sp>
      <p:sp>
        <p:nvSpPr>
          <p:cNvPr id="6" name="Shape 4"/>
          <p:cNvSpPr/>
          <p:nvPr/>
        </p:nvSpPr>
        <p:spPr>
          <a:xfrm>
            <a:off x="1322680" y="1965960"/>
            <a:ext cx="768096" cy="768096"/>
          </a:xfrm>
          <a:prstGeom prst="ellipse">
            <a:avLst/>
          </a:prstGeom>
          <a:solidFill>
            <a:srgbClr val="6D4AA0"/>
          </a:solidFill>
          <a:ln/>
        </p:spPr>
      </p:sp>
      <p:sp>
        <p:nvSpPr>
          <p:cNvPr id="7" name="Text 5"/>
          <p:cNvSpPr/>
          <p:nvPr/>
        </p:nvSpPr>
        <p:spPr>
          <a:xfrm>
            <a:off x="1322680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95148" y="2880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(DOM)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0868" y="33101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na página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91460" y="21488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B72D0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29788" y="1737360"/>
            <a:ext cx="2606040" cy="2194560"/>
          </a:xfrm>
          <a:prstGeom prst="roundRect">
            <a:avLst>
              <a:gd name="adj" fmla="val 3750"/>
            </a:avLst>
          </a:prstGeom>
          <a:solidFill>
            <a:srgbClr val="2E2340"/>
          </a:solidFill>
          <a:ln/>
        </p:spPr>
      </p:sp>
      <p:sp>
        <p:nvSpPr>
          <p:cNvPr id="12" name="Shape 10"/>
          <p:cNvSpPr/>
          <p:nvPr/>
        </p:nvSpPr>
        <p:spPr>
          <a:xfrm>
            <a:off x="4248760" y="1965960"/>
            <a:ext cx="768096" cy="768096"/>
          </a:xfrm>
          <a:prstGeom prst="ellipse">
            <a:avLst/>
          </a:prstGeom>
          <a:solidFill>
            <a:srgbClr val="6D4AA0"/>
          </a:solidFill>
          <a:ln/>
        </p:spPr>
      </p:sp>
      <p:sp>
        <p:nvSpPr>
          <p:cNvPr id="13" name="Text 11"/>
          <p:cNvSpPr/>
          <p:nvPr/>
        </p:nvSpPr>
        <p:spPr>
          <a:xfrm>
            <a:off x="4248760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421228" y="2880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66948" y="33101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e cliques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17540" y="21488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B72D0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55868" y="1737360"/>
            <a:ext cx="2606040" cy="2194560"/>
          </a:xfrm>
          <a:prstGeom prst="roundRect">
            <a:avLst>
              <a:gd name="adj" fmla="val 3750"/>
            </a:avLst>
          </a:prstGeom>
          <a:solidFill>
            <a:srgbClr val="2E2340"/>
          </a:solidFill>
          <a:ln/>
        </p:spPr>
      </p:sp>
      <p:sp>
        <p:nvSpPr>
          <p:cNvPr id="18" name="Shape 16"/>
          <p:cNvSpPr/>
          <p:nvPr/>
        </p:nvSpPr>
        <p:spPr>
          <a:xfrm>
            <a:off x="7174840" y="1965960"/>
            <a:ext cx="768096" cy="768096"/>
          </a:xfrm>
          <a:prstGeom prst="ellipse">
            <a:avLst/>
          </a:prstGeom>
          <a:solidFill>
            <a:srgbClr val="6D4AA0"/>
          </a:solidFill>
          <a:ln/>
        </p:spPr>
      </p:sp>
      <p:sp>
        <p:nvSpPr>
          <p:cNvPr id="19" name="Text 17"/>
          <p:cNvSpPr/>
          <p:nvPr/>
        </p:nvSpPr>
        <p:spPr>
          <a:xfrm>
            <a:off x="7174840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347308" y="2880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93028" y="33101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43620" y="21488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B72D0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181948" y="1737360"/>
            <a:ext cx="2606040" cy="2194560"/>
          </a:xfrm>
          <a:prstGeom prst="roundRect">
            <a:avLst>
              <a:gd name="adj" fmla="val 3750"/>
            </a:avLst>
          </a:prstGeom>
          <a:solidFill>
            <a:srgbClr val="2E2340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00920" y="1965960"/>
            <a:ext cx="768096" cy="768096"/>
          </a:xfrm>
          <a:prstGeom prst="ellipse">
            <a:avLst/>
          </a:prstGeom>
          <a:solidFill>
            <a:srgbClr val="6D4AA0"/>
          </a:solidFill>
          <a:ln/>
        </p:spPr>
      </p:sp>
      <p:sp>
        <p:nvSpPr>
          <p:cNvPr id="25" name="Text 23"/>
          <p:cNvSpPr/>
          <p:nvPr/>
        </p:nvSpPr>
        <p:spPr>
          <a:xfrm>
            <a:off x="10100920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273388" y="2880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chefe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319108" y="33101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 apresentação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48056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271C33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4805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jogo sai do console e vira jogável de verdade — do primeiro clique ao chefe final.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DOM: escrever na página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195560" y="4572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D4AA0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457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DOM é a página vista como objetos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getElementById acha uma "caixa"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innerHTML troca o conteúdo dela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lógica não muda; muda a saída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28232" y="1956816"/>
            <a:ext cx="128016" cy="128016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10" name="Shape 8"/>
          <p:cNvSpPr/>
          <p:nvPr/>
        </p:nvSpPr>
        <p:spPr>
          <a:xfrm>
            <a:off x="6684264" y="1956816"/>
            <a:ext cx="128016" cy="128016"/>
          </a:xfrm>
          <a:prstGeom prst="ellipse">
            <a:avLst/>
          </a:prstGeom>
          <a:solidFill>
            <a:srgbClr val="E7BC57"/>
          </a:solidFill>
          <a:ln/>
        </p:spPr>
      </p:sp>
      <p:sp>
        <p:nvSpPr>
          <p:cNvPr id="11" name="Shape 9"/>
          <p:cNvSpPr/>
          <p:nvPr/>
        </p:nvSpPr>
        <p:spPr>
          <a:xfrm>
            <a:off x="6940296" y="1956816"/>
            <a:ext cx="128016" cy="128016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304288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caixa =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.getElementById("ficha");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caixa.innerHTML =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"&lt;h2&gt;" + heroi.nome + "&lt;/h2&gt;";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MUNDO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Telas no mercado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195560" y="4572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D4AA0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457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185416"/>
            <a:ext cx="137160" cy="137160"/>
          </a:xfrm>
          <a:prstGeom prst="ellipse">
            <a:avLst/>
          </a:prstGeom>
          <a:solidFill>
            <a:srgbClr val="9B72D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574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renderizar dados   </a:t>
            </a:r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preço, nome, foto na tela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25496"/>
            <a:ext cx="137160" cy="137160"/>
          </a:xfrm>
          <a:prstGeom prst="ellipse">
            <a:avLst/>
          </a:prstGeom>
          <a:solidFill>
            <a:srgbClr val="9B72D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9748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atualizar carrinho   </a:t>
            </a:r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o total ao adicionar item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465576"/>
            <a:ext cx="137160" cy="137160"/>
          </a:xfrm>
          <a:prstGeom prst="ellipse">
            <a:avLst/>
          </a:prstGeom>
          <a:solidFill>
            <a:srgbClr val="9B72D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375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dashboards   </a:t>
            </a:r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e números ao vivo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783080"/>
            <a:ext cx="5212080" cy="3108960"/>
          </a:xfrm>
          <a:prstGeom prst="roundRect">
            <a:avLst>
              <a:gd name="adj" fmla="val 2647"/>
            </a:avLst>
          </a:prstGeom>
          <a:solidFill>
            <a:srgbClr val="2E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em escala?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37960" y="25146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Vue e Angular são ferramentas que fazem exatamente isso — atualizar a tela a partir dos dados — de forma organizada.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vocês aprendem a base que sustenta todas elas.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Eventos: reagir ao clique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195560" y="4572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D4AA0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457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= reação a algo do usuário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 liga botão à função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batalha vira "um turno por clique"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clique, a tela se atualiza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28232" y="1956816"/>
            <a:ext cx="128016" cy="128016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10" name="Shape 8"/>
          <p:cNvSpPr/>
          <p:nvPr/>
        </p:nvSpPr>
        <p:spPr>
          <a:xfrm>
            <a:off x="6684264" y="1956816"/>
            <a:ext cx="128016" cy="128016"/>
          </a:xfrm>
          <a:prstGeom prst="ellipse">
            <a:avLst/>
          </a:prstGeom>
          <a:solidFill>
            <a:srgbClr val="E7BC57"/>
          </a:solidFill>
          <a:ln/>
        </p:spPr>
      </p:sp>
      <p:sp>
        <p:nvSpPr>
          <p:cNvPr id="11" name="Shape 9"/>
          <p:cNvSpPr/>
          <p:nvPr/>
        </p:nvSpPr>
        <p:spPr>
          <a:xfrm>
            <a:off x="6940296" y="1956816"/>
            <a:ext cx="128016" cy="128016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304288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botao.addEventListener(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"click",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() {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atacar(heroi, inimigo);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MUNDO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Eventos no mercado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195560" y="4572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D4AA0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457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2E234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4767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3500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finaliza o pedido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0488" y="178308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2E2340"/>
          </a:solidFill>
          <a:ln/>
        </p:spPr>
      </p:sp>
      <p:sp>
        <p:nvSpPr>
          <p:cNvPr id="11" name="Text 9"/>
          <p:cNvSpPr/>
          <p:nvPr/>
        </p:nvSpPr>
        <p:spPr>
          <a:xfrm>
            <a:off x="6419088" y="194767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19088" y="23500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dispara a validação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218688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2E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832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3785616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abre/fecha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0488" y="3218688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2E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6419088" y="33832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Curtir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3785616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registra a reação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271C33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5720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app que responde ao usuário é feito de eventos ligados a funções.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7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1E152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097280"/>
            <a:ext cx="3291840" cy="3291840"/>
          </a:xfrm>
          <a:prstGeom prst="ellipse">
            <a:avLst/>
          </a:prstGeom>
          <a:solidFill>
            <a:srgbClr val="1E15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PARA PRATICAR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1 · O clique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10698480" cy="2286000"/>
          </a:xfrm>
          <a:prstGeom prst="roundRect">
            <a:avLst>
              <a:gd name="adj" fmla="val 3600"/>
            </a:avLst>
          </a:prstGeom>
          <a:solidFill>
            <a:srgbClr val="2E2340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8346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Ligue o botão "Atacar" a uma função que executa um turno (herói golpeia, inimigo revida) e atualiza a ficha na tela.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5212080"/>
            <a:ext cx="2743200" cy="640080"/>
          </a:xfrm>
          <a:prstGeom prst="roundRect">
            <a:avLst>
              <a:gd name="adj" fmla="val 12857"/>
            </a:avLst>
          </a:prstGeom>
          <a:solidFill>
            <a:srgbClr val="6D4AA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 min · em duplas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Salvar o progresso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195560" y="4572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D4AA0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457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guarda dados no navegador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só guarda TEXTO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JSON.stringify: objeto → texto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JSON.parse: texto → objeto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28232" y="1956816"/>
            <a:ext cx="128016" cy="128016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10" name="Shape 8"/>
          <p:cNvSpPr/>
          <p:nvPr/>
        </p:nvSpPr>
        <p:spPr>
          <a:xfrm>
            <a:off x="6684264" y="1956816"/>
            <a:ext cx="128016" cy="128016"/>
          </a:xfrm>
          <a:prstGeom prst="ellipse">
            <a:avLst/>
          </a:prstGeom>
          <a:solidFill>
            <a:srgbClr val="E7BC57"/>
          </a:solidFill>
          <a:ln/>
        </p:spPr>
      </p:sp>
      <p:sp>
        <p:nvSpPr>
          <p:cNvPr id="11" name="Shape 9"/>
          <p:cNvSpPr/>
          <p:nvPr/>
        </p:nvSpPr>
        <p:spPr>
          <a:xfrm>
            <a:off x="6940296" y="1956816"/>
            <a:ext cx="128016" cy="128016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304288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9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salvar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localStorage.setItem("save",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JSON.stringify(heroi));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9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carregar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txt =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localStorage.getItem("save");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dados = JSON.parse(txt);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LIÇÃO IMPORTANTE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≠ comportamento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195560" y="4572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D4AA0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457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5577840" cy="3108960"/>
          </a:xfrm>
          <a:prstGeom prst="roundRect">
            <a:avLst>
              <a:gd name="adj" fmla="val 2647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956816"/>
            <a:ext cx="128016" cy="128016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956816"/>
            <a:ext cx="128016" cy="128016"/>
          </a:xfrm>
          <a:prstGeom prst="ellipse">
            <a:avLst/>
          </a:prstGeom>
          <a:solidFill>
            <a:srgbClr val="E7BC57"/>
          </a:solidFill>
          <a:ln/>
        </p:spPr>
      </p:sp>
      <p:sp>
        <p:nvSpPr>
          <p:cNvPr id="10" name="Shape 8"/>
          <p:cNvSpPr/>
          <p:nvPr/>
        </p:nvSpPr>
        <p:spPr>
          <a:xfrm>
            <a:off x="1408176" y="1956816"/>
            <a:ext cx="128016" cy="128016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304288"/>
            <a:ext cx="5074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reconstruir(dados) {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h =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criarHeroi(dados.nome);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h.vida = dados.vida;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h.nivel = dados.nivel;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h; // métodos de volta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1783080"/>
            <a:ext cx="5074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salva só os DADOS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métodos (atacar, curar) somem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carregar, recriamos o herói...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...e copiamos os dados salvos nele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46520" y="4572000"/>
            <a:ext cx="5074920" cy="822960"/>
          </a:xfrm>
          <a:prstGeom prst="roundRect">
            <a:avLst>
              <a:gd name="adj" fmla="val 10000"/>
            </a:avLst>
          </a:prstGeom>
          <a:solidFill>
            <a:srgbClr val="271C33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45720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dados de comportamento é um conceito de peso — vale destacar.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7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1E152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097280"/>
            <a:ext cx="3291840" cy="3291840"/>
          </a:xfrm>
          <a:prstGeom prst="ellipse">
            <a:avLst/>
          </a:prstGeom>
          <a:solidFill>
            <a:srgbClr val="1E15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PARA PRATICAR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2 · Continuar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10698480" cy="2286000"/>
          </a:xfrm>
          <a:prstGeom prst="roundRect">
            <a:avLst>
              <a:gd name="adj" fmla="val 3600"/>
            </a:avLst>
          </a:prstGeom>
          <a:solidFill>
            <a:srgbClr val="2E2340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8346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o jogo salvar ao vencer um andar e carregar ao abrir a página.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que, ao recarregar, o herói mantém nível, ouro e itens.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5212080"/>
            <a:ext cx="2743200" cy="640080"/>
          </a:xfrm>
          <a:prstGeom prst="roundRect">
            <a:avLst>
              <a:gd name="adj" fmla="val 12857"/>
            </a:avLst>
          </a:prstGeom>
          <a:solidFill>
            <a:srgbClr val="6D4AA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 min · em duplas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DESFECHO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chefe e o final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195560" y="4572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D4AA0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457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956816"/>
            <a:ext cx="128016" cy="128016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956816"/>
            <a:ext cx="128016" cy="128016"/>
          </a:xfrm>
          <a:prstGeom prst="ellipse">
            <a:avLst/>
          </a:prstGeom>
          <a:solidFill>
            <a:srgbClr val="E7BC57"/>
          </a:solidFill>
          <a:ln/>
        </p:spPr>
      </p:sp>
      <p:sp>
        <p:nvSpPr>
          <p:cNvPr id="10" name="Shape 8"/>
          <p:cNvSpPr/>
          <p:nvPr/>
        </p:nvSpPr>
        <p:spPr>
          <a:xfrm>
            <a:off x="1408176" y="1956816"/>
            <a:ext cx="128016" cy="128016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304288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chefe =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criarInimigo("Chefe",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150, 20, 10);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masmorra.push(chefe);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178308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Chefe = inimigo forte no último andar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de vitória e de derrota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"Novo Jogo" precisa RECRIAR a masmorra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(objetos são compartilhados por referência)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4343400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271C33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43434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Reiniciar variáveis não desfaz o dano nos objetos — é preciso criá-los de novo.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4206240" cy="4206240"/>
          </a:xfrm>
          <a:prstGeom prst="ellipse">
            <a:avLst/>
          </a:prstGeom>
          <a:solidFill>
            <a:srgbClr val="271C3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657600" cy="3657600"/>
          </a:xfrm>
          <a:prstGeom prst="ellipse">
            <a:avLst/>
          </a:prstGeom>
          <a:solidFill>
            <a:srgbClr val="271C33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FIM DO CURSO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Vocês construíram...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6675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RPG completo, do zero, em JavaScript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Combate, progressão, loja e save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interface clicável na tela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versionado no GitHub, aula a aula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projeto real para o portfólio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89520" y="1828800"/>
            <a:ext cx="3931920" cy="3383280"/>
          </a:xfrm>
          <a:prstGeom prst="roundRect">
            <a:avLst>
              <a:gd name="adj" fmla="val 2432"/>
            </a:avLst>
          </a:prstGeom>
          <a:solidFill>
            <a:srgbClr val="6D4AA0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210312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Isso é</a:t>
            </a:r>
            <a:endParaRPr lang="en-US" sz="2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programar</a:t>
            </a:r>
            <a:endParaRPr lang="en-US" sz="2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verdade.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818120" y="39776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console.log("Olá") a um jogo completo.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2026-08-15T11:08:26Z</dcterms:created>
  <dcterms:modified xsi:type="dcterms:W3CDTF">2026-08-15T11:08:26Z</dcterms:modified>
</cp:coreProperties>
</file>